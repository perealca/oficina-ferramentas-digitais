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Arial Narrow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XMcIZKW4q/mOv+C5ZrJVeczH2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Narrow-regular.fntdata"/><Relationship Id="rId11" Type="http://schemas.openxmlformats.org/officeDocument/2006/relationships/slide" Target="slides/slide7.xml"/><Relationship Id="rId22" Type="http://schemas.openxmlformats.org/officeDocument/2006/relationships/font" Target="fonts/ArialNarrow-italic.fntdata"/><Relationship Id="rId10" Type="http://schemas.openxmlformats.org/officeDocument/2006/relationships/slide" Target="slides/slide6.xml"/><Relationship Id="rId21" Type="http://schemas.openxmlformats.org/officeDocument/2006/relationships/font" Target="fonts/ArialNarrow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ArialNarrow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" Target="slides/slide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2.xml"/><Relationship Id="rId18" Type="http://schemas.openxmlformats.org/officeDocument/2006/relationships/font" Target="fonts/Robo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449eff84f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d449eff84f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449eff84f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d449eff84f_1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449eff84f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d449eff84f_1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449eff84f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d449eff84f_1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449eff84f_1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d449eff84f_1_6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449eff84f_1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d449eff84f_1_6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4426b4fc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d4426b4fcc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4426b4fc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d4426b4fcc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7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7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9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9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D7D0C0"/>
          </a:solidFill>
          <a:ln>
            <a:noFill/>
          </a:ln>
        </p:spPr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5" name="Google Shape;35;p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0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" name="Google Shape;43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10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2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1" name="Google Shape;61;p1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097278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14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14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6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6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4180113" cy="187778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/>
        </p:nvSpPr>
        <p:spPr>
          <a:xfrm>
            <a:off x="4924655" y="4615008"/>
            <a:ext cx="65373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FELIPE GUSTAVO VASCONCELOS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LUCIANO CAIO MARTINS NEVES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JUAN LENNON SOARES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PEDRO RENAN ALVES CARNEIRO</a:t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4924650" y="2365100"/>
            <a:ext cx="7033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rPr>
              <a:t>USO DE FERRAMENTAS DIGITAIS NO ENSINO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424543" y="5809918"/>
            <a:ext cx="32004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POLO SOBRAL - 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449eff84f_1_3"/>
          <p:cNvSpPr txBox="1"/>
          <p:nvPr/>
        </p:nvSpPr>
        <p:spPr>
          <a:xfrm>
            <a:off x="0" y="293914"/>
            <a:ext cx="12192000" cy="708000"/>
          </a:xfrm>
          <a:prstGeom prst="rect">
            <a:avLst/>
          </a:prstGeom>
          <a:solidFill>
            <a:schemeClr val="accent2"/>
          </a:solidFill>
          <a:ln cap="flat" cmpd="sng" w="15875">
            <a:solidFill>
              <a:srgbClr val="712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O'QUE</a:t>
            </a:r>
            <a:r>
              <a:rPr b="1" i="0" lang="en-US" sz="4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É COMPUTAÇÃO PARA </a:t>
            </a:r>
            <a:r>
              <a:rPr b="1" lang="en-US" sz="4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MIM</a:t>
            </a:r>
            <a:endParaRPr b="1" i="0" sz="4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10" name="Google Shape;110;g3d449eff84f_1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1543" y="5680562"/>
            <a:ext cx="1480457" cy="7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d449eff84f_1_3"/>
          <p:cNvSpPr/>
          <p:nvPr/>
        </p:nvSpPr>
        <p:spPr>
          <a:xfrm>
            <a:off x="0" y="1001800"/>
            <a:ext cx="12192000" cy="456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d449eff84f_1_3"/>
          <p:cNvSpPr/>
          <p:nvPr/>
        </p:nvSpPr>
        <p:spPr>
          <a:xfrm>
            <a:off x="0" y="293914"/>
            <a:ext cx="12192000" cy="456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d449eff84f_1_3"/>
          <p:cNvSpPr txBox="1"/>
          <p:nvPr/>
        </p:nvSpPr>
        <p:spPr>
          <a:xfrm>
            <a:off x="751700" y="1572951"/>
            <a:ext cx="5620200" cy="20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Impactos da Computação na Sociedade Moderna: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14" name="Google Shape;114;g3d449eff84f_1_3"/>
          <p:cNvSpPr txBox="1"/>
          <p:nvPr/>
        </p:nvSpPr>
        <p:spPr>
          <a:xfrm>
            <a:off x="-4026" y="5863949"/>
            <a:ext cx="233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RENAN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d449eff84f_1_3"/>
          <p:cNvSpPr txBox="1"/>
          <p:nvPr/>
        </p:nvSpPr>
        <p:spPr>
          <a:xfrm>
            <a:off x="1054400" y="2564050"/>
            <a:ext cx="6090000" cy="31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AutoNum type="arabicPeriod"/>
            </a:pPr>
            <a:r>
              <a:rPr b="1" lang="en-US" sz="1600">
                <a:solidFill>
                  <a:srgbClr val="3F3F3F"/>
                </a:solidFill>
              </a:rPr>
              <a:t>Importância da computação:</a:t>
            </a:r>
            <a:r>
              <a:rPr lang="en-US" sz="1600">
                <a:solidFill>
                  <a:srgbClr val="3F3F3F"/>
                </a:solidFill>
              </a:rPr>
              <a:t> É um pilar do mundo moderno e essencial para o desenvolvimento da sociedade.</a:t>
            </a:r>
            <a:endParaRPr sz="1600">
              <a:solidFill>
                <a:srgbClr val="3F3F3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AutoNum type="arabicPeriod"/>
            </a:pPr>
            <a:r>
              <a:rPr b="1" lang="en-US" sz="1600">
                <a:solidFill>
                  <a:srgbClr val="3F3F3F"/>
                </a:solidFill>
              </a:rPr>
              <a:t>Presença ampla:</a:t>
            </a:r>
            <a:r>
              <a:rPr lang="en-US" sz="1600">
                <a:solidFill>
                  <a:srgbClr val="3F3F3F"/>
                </a:solidFill>
              </a:rPr>
              <a:t> Está presente em praticamente todas as áreas do conhecimento, da comunicação à indústria.</a:t>
            </a: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AutoNum type="arabicPeriod"/>
            </a:pPr>
            <a:r>
              <a:rPr b="1" lang="en-US" sz="1600">
                <a:solidFill>
                  <a:srgbClr val="3F3F3F"/>
                </a:solidFill>
              </a:rPr>
              <a:t>Benefícios das inovações:</a:t>
            </a:r>
            <a:r>
              <a:rPr lang="en-US" sz="1600">
                <a:solidFill>
                  <a:srgbClr val="3F3F3F"/>
                </a:solidFill>
              </a:rPr>
              <a:t> Impulsionam o progresso e trazem avanços significativos para diversas áreas.</a:t>
            </a: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AutoNum type="arabicPeriod"/>
            </a:pPr>
            <a:r>
              <a:rPr b="1" lang="en-US" sz="1600">
                <a:solidFill>
                  <a:srgbClr val="3F3F3F"/>
                </a:solidFill>
              </a:rPr>
              <a:t>Desafios e efeitos negativos:</a:t>
            </a:r>
            <a:r>
              <a:rPr lang="en-US" sz="1600">
                <a:solidFill>
                  <a:srgbClr val="3F3F3F"/>
                </a:solidFill>
              </a:rPr>
              <a:t> Surgem problemas como a disseminação de fake news, mostrando que nem todas as consequências são positivas.</a:t>
            </a: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rgbClr val="3F3F3F"/>
                </a:solidFill>
              </a:rPr>
            </a:b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</p:txBody>
      </p:sp>
      <p:pic>
        <p:nvPicPr>
          <p:cNvPr id="116" name="Google Shape;116;g3d449eff84f_1_3" title="5613f67821641-historia-e-evolucao-dos-computador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4775" y="1722052"/>
            <a:ext cx="4331824" cy="148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449eff84f_1_23"/>
          <p:cNvSpPr txBox="1"/>
          <p:nvPr/>
        </p:nvSpPr>
        <p:spPr>
          <a:xfrm>
            <a:off x="0" y="293914"/>
            <a:ext cx="12192000" cy="708000"/>
          </a:xfrm>
          <a:prstGeom prst="rect">
            <a:avLst/>
          </a:prstGeom>
          <a:solidFill>
            <a:schemeClr val="accent2"/>
          </a:solidFill>
          <a:ln cap="flat" cmpd="sng" w="15875">
            <a:solidFill>
              <a:srgbClr val="712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ÁREA DE INTERESSE</a:t>
            </a:r>
            <a:endParaRPr b="1" sz="40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22" name="Google Shape;122;g3d449eff84f_1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1543" y="5680562"/>
            <a:ext cx="1480457" cy="7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d449eff84f_1_23"/>
          <p:cNvSpPr/>
          <p:nvPr/>
        </p:nvSpPr>
        <p:spPr>
          <a:xfrm>
            <a:off x="0" y="1001800"/>
            <a:ext cx="12192000" cy="456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d449eff84f_1_23"/>
          <p:cNvSpPr/>
          <p:nvPr/>
        </p:nvSpPr>
        <p:spPr>
          <a:xfrm>
            <a:off x="0" y="293914"/>
            <a:ext cx="12192000" cy="456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d449eff84f_1_23"/>
          <p:cNvSpPr txBox="1"/>
          <p:nvPr/>
        </p:nvSpPr>
        <p:spPr>
          <a:xfrm>
            <a:off x="-4026" y="5863949"/>
            <a:ext cx="233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RENAN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d449eff84f_1_23"/>
          <p:cNvSpPr txBox="1"/>
          <p:nvPr/>
        </p:nvSpPr>
        <p:spPr>
          <a:xfrm>
            <a:off x="5972425" y="2704500"/>
            <a:ext cx="500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Dados e suas demais áreas: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27" name="Google Shape;127;g3d449eff84f_1_23"/>
          <p:cNvSpPr txBox="1"/>
          <p:nvPr/>
        </p:nvSpPr>
        <p:spPr>
          <a:xfrm>
            <a:off x="5972425" y="3301750"/>
            <a:ext cx="45309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Engenharia de dados</a:t>
            </a: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Ciência de Dados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Análise de Dados e Business Intelligence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g3d449eff84f_1_23" title="d2b754_f118462f0b5b49539d9b84a4ca5ecefd_mv2.jpg"/>
          <p:cNvPicPr preferRelativeResize="0"/>
          <p:nvPr/>
        </p:nvPicPr>
        <p:blipFill rotWithShape="1">
          <a:blip r:embed="rId4">
            <a:alphaModFix/>
          </a:blip>
          <a:srcRect b="0" l="3750" r="-3750" t="0"/>
          <a:stretch/>
        </p:blipFill>
        <p:spPr>
          <a:xfrm>
            <a:off x="217275" y="1837775"/>
            <a:ext cx="5755150" cy="32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449eff84f_1_40"/>
          <p:cNvSpPr txBox="1"/>
          <p:nvPr/>
        </p:nvSpPr>
        <p:spPr>
          <a:xfrm>
            <a:off x="0" y="293914"/>
            <a:ext cx="12192000" cy="708000"/>
          </a:xfrm>
          <a:prstGeom prst="rect">
            <a:avLst/>
          </a:prstGeom>
          <a:solidFill>
            <a:schemeClr val="accent2"/>
          </a:solidFill>
          <a:ln cap="flat" cmpd="sng" w="15875">
            <a:solidFill>
              <a:srgbClr val="712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O'QUE</a:t>
            </a:r>
            <a:r>
              <a:rPr b="1" i="0" lang="en-US" sz="4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É COMPUTAÇÃO PARA </a:t>
            </a:r>
            <a:r>
              <a:rPr b="1" lang="en-US" sz="4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MIM</a:t>
            </a:r>
            <a:endParaRPr b="1" i="0" sz="4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34" name="Google Shape;134;g3d449eff84f_1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1543" y="5680562"/>
            <a:ext cx="1480457" cy="7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d449eff84f_1_40"/>
          <p:cNvSpPr/>
          <p:nvPr/>
        </p:nvSpPr>
        <p:spPr>
          <a:xfrm>
            <a:off x="0" y="1001800"/>
            <a:ext cx="12192000" cy="456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d449eff84f_1_40"/>
          <p:cNvSpPr/>
          <p:nvPr/>
        </p:nvSpPr>
        <p:spPr>
          <a:xfrm>
            <a:off x="0" y="293914"/>
            <a:ext cx="12192000" cy="456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d449eff84f_1_40"/>
          <p:cNvSpPr txBox="1"/>
          <p:nvPr/>
        </p:nvSpPr>
        <p:spPr>
          <a:xfrm>
            <a:off x="751700" y="1572951"/>
            <a:ext cx="562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O Papel Transformador da Computação na Sociedade: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38" name="Google Shape;138;g3d449eff84f_1_40"/>
          <p:cNvSpPr txBox="1"/>
          <p:nvPr/>
        </p:nvSpPr>
        <p:spPr>
          <a:xfrm>
            <a:off x="-4026" y="5863949"/>
            <a:ext cx="233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GUSTAVO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d449eff84f_1_40"/>
          <p:cNvSpPr txBox="1"/>
          <p:nvPr/>
        </p:nvSpPr>
        <p:spPr>
          <a:xfrm>
            <a:off x="1054400" y="2564050"/>
            <a:ext cx="63204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AutoNum type="arabicPeriod"/>
            </a:pPr>
            <a:r>
              <a:rPr b="1" lang="en-US" sz="1600">
                <a:solidFill>
                  <a:srgbClr val="3F3F3F"/>
                </a:solidFill>
              </a:rPr>
              <a:t>Facilitadora do progresso humano:</a:t>
            </a:r>
            <a:r>
              <a:rPr lang="en-US" sz="1600">
                <a:solidFill>
                  <a:srgbClr val="3F3F3F"/>
                </a:solidFill>
              </a:rPr>
              <a:t> A computação permite métodos antes impraticáveis, tornando possível soluções que aumentam eficiência e inovação, integrando-se ao cotidiano.</a:t>
            </a: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AutoNum type="arabicPeriod"/>
            </a:pPr>
            <a:r>
              <a:rPr b="1" lang="en-US" sz="1600">
                <a:solidFill>
                  <a:srgbClr val="3F3F3F"/>
                </a:solidFill>
              </a:rPr>
              <a:t>Transcende limitações naturais:</a:t>
            </a:r>
            <a:r>
              <a:rPr lang="en-US" sz="1600">
                <a:solidFill>
                  <a:srgbClr val="3F3F3F"/>
                </a:solidFill>
              </a:rPr>
              <a:t> Conceitos como “não poder estar em dois lugares ao mesmo tempo” são desafiados pela tecnologia.</a:t>
            </a: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AutoNum type="arabicPeriod"/>
            </a:pPr>
            <a:r>
              <a:rPr b="1" lang="en-US" sz="1600">
                <a:solidFill>
                  <a:srgbClr val="3F3F3F"/>
                </a:solidFill>
              </a:rPr>
              <a:t>Criação de possibilidades não naturais:</a:t>
            </a:r>
            <a:r>
              <a:rPr lang="en-US" sz="1600">
                <a:solidFill>
                  <a:srgbClr val="3F3F3F"/>
                </a:solidFill>
              </a:rPr>
              <a:t> A computação permite moldar a realidade de formas inéditas.</a:t>
            </a: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AutoNum type="arabicPeriod"/>
            </a:pPr>
            <a:r>
              <a:rPr b="1" lang="en-US" sz="1600">
                <a:solidFill>
                  <a:srgbClr val="3F3F3F"/>
                </a:solidFill>
              </a:rPr>
              <a:t>Retroalimentação exponencial:</a:t>
            </a:r>
            <a:r>
              <a:rPr lang="en-US" sz="1600">
                <a:solidFill>
                  <a:srgbClr val="3F3F3F"/>
                </a:solidFill>
              </a:rPr>
              <a:t> Novas invenções e dados alimentam pesquisas adicionais, criando um ciclo de inovação.</a:t>
            </a: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rgbClr val="3F3F3F"/>
                </a:solidFill>
              </a:rPr>
            </a:b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</p:txBody>
      </p:sp>
      <p:pic>
        <p:nvPicPr>
          <p:cNvPr id="140" name="Google Shape;140;g3d449eff84f_1_40" title="xg-deep-learning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5949" y="1680386"/>
            <a:ext cx="4238724" cy="238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449eff84f_1_58"/>
          <p:cNvSpPr txBox="1"/>
          <p:nvPr/>
        </p:nvSpPr>
        <p:spPr>
          <a:xfrm>
            <a:off x="0" y="293914"/>
            <a:ext cx="12192000" cy="708000"/>
          </a:xfrm>
          <a:prstGeom prst="rect">
            <a:avLst/>
          </a:prstGeom>
          <a:solidFill>
            <a:schemeClr val="accent2"/>
          </a:solidFill>
          <a:ln cap="flat" cmpd="sng" w="15875">
            <a:solidFill>
              <a:srgbClr val="712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ÁREA DE INTERESSE</a:t>
            </a:r>
            <a:endParaRPr b="1" sz="40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46" name="Google Shape;146;g3d449eff84f_1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1543" y="5680562"/>
            <a:ext cx="1480457" cy="7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d449eff84f_1_58"/>
          <p:cNvSpPr/>
          <p:nvPr/>
        </p:nvSpPr>
        <p:spPr>
          <a:xfrm>
            <a:off x="0" y="1001800"/>
            <a:ext cx="12192000" cy="456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d449eff84f_1_58"/>
          <p:cNvSpPr/>
          <p:nvPr/>
        </p:nvSpPr>
        <p:spPr>
          <a:xfrm>
            <a:off x="0" y="293914"/>
            <a:ext cx="12192000" cy="456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d449eff84f_1_58"/>
          <p:cNvSpPr txBox="1"/>
          <p:nvPr/>
        </p:nvSpPr>
        <p:spPr>
          <a:xfrm>
            <a:off x="-4026" y="5863949"/>
            <a:ext cx="233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RENAN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g3d449eff84f_1_58" title="021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9325" y="2069687"/>
            <a:ext cx="3657545" cy="336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d449eff84f_1_58"/>
          <p:cNvSpPr txBox="1"/>
          <p:nvPr/>
        </p:nvSpPr>
        <p:spPr>
          <a:xfrm>
            <a:off x="5972423" y="4168375"/>
            <a:ext cx="59181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Pré-processamento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Batching e shuffling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d449eff84f_1_58"/>
          <p:cNvSpPr txBox="1"/>
          <p:nvPr/>
        </p:nvSpPr>
        <p:spPr>
          <a:xfrm>
            <a:off x="5890050" y="1544600"/>
            <a:ext cx="500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Deep Learning</a:t>
            </a:r>
            <a:r>
              <a:rPr b="1" lang="en-US" sz="2000">
                <a:solidFill>
                  <a:schemeClr val="dk1"/>
                </a:solidFill>
              </a:rPr>
              <a:t>: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53" name="Google Shape;153;g3d449eff84f_1_58"/>
          <p:cNvSpPr txBox="1"/>
          <p:nvPr/>
        </p:nvSpPr>
        <p:spPr>
          <a:xfrm>
            <a:off x="5890050" y="2141850"/>
            <a:ext cx="45309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Redes neurais profundas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Visão computacional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Big data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d449eff84f_1_58"/>
          <p:cNvSpPr txBox="1"/>
          <p:nvPr/>
        </p:nvSpPr>
        <p:spPr>
          <a:xfrm>
            <a:off x="5890050" y="3490675"/>
            <a:ext cx="32421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Manipulação de dados</a:t>
            </a:r>
            <a:r>
              <a:rPr b="1" lang="en-US" sz="2000">
                <a:solidFill>
                  <a:schemeClr val="dk1"/>
                </a:solidFill>
              </a:rPr>
              <a:t>: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449eff84f_1_603"/>
          <p:cNvSpPr txBox="1"/>
          <p:nvPr/>
        </p:nvSpPr>
        <p:spPr>
          <a:xfrm>
            <a:off x="0" y="293914"/>
            <a:ext cx="12192000" cy="708000"/>
          </a:xfrm>
          <a:prstGeom prst="rect">
            <a:avLst/>
          </a:prstGeom>
          <a:solidFill>
            <a:schemeClr val="accent2"/>
          </a:solidFill>
          <a:ln cap="flat" cmpd="sng" w="15875">
            <a:solidFill>
              <a:srgbClr val="712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O'QUE</a:t>
            </a:r>
            <a:r>
              <a:rPr b="1" i="0" lang="en-US" sz="4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É COMPUTAÇÃO PARA </a:t>
            </a:r>
            <a:r>
              <a:rPr b="1" lang="en-US" sz="4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MIM</a:t>
            </a:r>
            <a:endParaRPr b="1" i="0" sz="4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60" name="Google Shape;160;g3d449eff84f_1_6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1543" y="5680562"/>
            <a:ext cx="1480457" cy="7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d449eff84f_1_603"/>
          <p:cNvSpPr/>
          <p:nvPr/>
        </p:nvSpPr>
        <p:spPr>
          <a:xfrm>
            <a:off x="0" y="1001800"/>
            <a:ext cx="12192000" cy="456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d449eff84f_1_603"/>
          <p:cNvSpPr/>
          <p:nvPr/>
        </p:nvSpPr>
        <p:spPr>
          <a:xfrm>
            <a:off x="0" y="293914"/>
            <a:ext cx="12192000" cy="456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d449eff84f_1_603"/>
          <p:cNvSpPr txBox="1"/>
          <p:nvPr/>
        </p:nvSpPr>
        <p:spPr>
          <a:xfrm>
            <a:off x="751700" y="1572951"/>
            <a:ext cx="562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A Computação como Motor de Evolução Humana: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64" name="Google Shape;164;g3d449eff84f_1_603"/>
          <p:cNvSpPr txBox="1"/>
          <p:nvPr/>
        </p:nvSpPr>
        <p:spPr>
          <a:xfrm>
            <a:off x="-4026" y="5863949"/>
            <a:ext cx="233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LUCIANO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d449eff84f_1_603"/>
          <p:cNvSpPr txBox="1"/>
          <p:nvPr/>
        </p:nvSpPr>
        <p:spPr>
          <a:xfrm>
            <a:off x="1054400" y="2564050"/>
            <a:ext cx="6090000" cy="31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AutoNum type="arabicPeriod"/>
            </a:pPr>
            <a:r>
              <a:rPr b="1" lang="en-US" sz="1600">
                <a:solidFill>
                  <a:srgbClr val="3F3F3F"/>
                </a:solidFill>
              </a:rPr>
              <a:t>Solução de problemas:</a:t>
            </a:r>
            <a:r>
              <a:rPr lang="en-US" sz="1600">
                <a:solidFill>
                  <a:srgbClr val="3F3F3F"/>
                </a:solidFill>
              </a:rPr>
              <a:t> Computação ajuda a enfrentar desafios da humanidade.</a:t>
            </a: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AutoNum type="arabicPeriod"/>
            </a:pPr>
            <a:r>
              <a:rPr b="1" lang="en-US" sz="1600">
                <a:solidFill>
                  <a:srgbClr val="3F3F3F"/>
                </a:solidFill>
              </a:rPr>
              <a:t>Impulso humano:</a:t>
            </a:r>
            <a:r>
              <a:rPr lang="en-US" sz="1600">
                <a:solidFill>
                  <a:srgbClr val="3F3F3F"/>
                </a:solidFill>
              </a:rPr>
              <a:t> Surge da necessidade de evoluir e progredir.</a:t>
            </a: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AutoNum type="arabicPeriod"/>
            </a:pPr>
            <a:r>
              <a:rPr b="1" lang="en-US" sz="1600">
                <a:solidFill>
                  <a:srgbClr val="3F3F3F"/>
                </a:solidFill>
              </a:rPr>
              <a:t>Impacto em diversas áreas:</a:t>
            </a:r>
            <a:r>
              <a:rPr lang="en-US" sz="1600">
                <a:solidFill>
                  <a:srgbClr val="3F3F3F"/>
                </a:solidFill>
              </a:rPr>
              <a:t> Saúde, educação, comunicação, entretenimento, entre outras.</a:t>
            </a:r>
            <a:endParaRPr sz="1600">
              <a:solidFill>
                <a:srgbClr val="3F3F3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AutoNum type="arabicPeriod"/>
            </a:pPr>
            <a:r>
              <a:rPr b="1" lang="en-US" sz="1600">
                <a:solidFill>
                  <a:srgbClr val="3F3F3F"/>
                </a:solidFill>
              </a:rPr>
              <a:t>Ferramentas inteligentes:</a:t>
            </a:r>
            <a:r>
              <a:rPr lang="en-US" sz="1600">
                <a:solidFill>
                  <a:srgbClr val="3F3F3F"/>
                </a:solidFill>
              </a:rPr>
              <a:t> Desde cálculos simples até máquinas que aprendem, identificam padrões e tomam decisões autônomas.</a:t>
            </a: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rgbClr val="3F3F3F"/>
                </a:solidFill>
              </a:rPr>
            </a:b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</p:txBody>
      </p:sp>
      <p:pic>
        <p:nvPicPr>
          <p:cNvPr id="166" name="Google Shape;166;g3d449eff84f_1_603" title="I5JT562HI4LXXYXTV4UOMAUDE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6494" y="1680386"/>
            <a:ext cx="4742798" cy="2669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449eff84f_1_620"/>
          <p:cNvSpPr txBox="1"/>
          <p:nvPr/>
        </p:nvSpPr>
        <p:spPr>
          <a:xfrm>
            <a:off x="0" y="293914"/>
            <a:ext cx="12192000" cy="708000"/>
          </a:xfrm>
          <a:prstGeom prst="rect">
            <a:avLst/>
          </a:prstGeom>
          <a:solidFill>
            <a:schemeClr val="accent2"/>
          </a:solidFill>
          <a:ln cap="flat" cmpd="sng" w="15875">
            <a:solidFill>
              <a:srgbClr val="712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ÁREA DE INTERESSE</a:t>
            </a:r>
            <a:endParaRPr b="1" sz="40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72" name="Google Shape;172;g3d449eff84f_1_6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1543" y="5680562"/>
            <a:ext cx="1480457" cy="7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d449eff84f_1_620"/>
          <p:cNvSpPr/>
          <p:nvPr/>
        </p:nvSpPr>
        <p:spPr>
          <a:xfrm>
            <a:off x="0" y="1001800"/>
            <a:ext cx="12192000" cy="456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449eff84f_1_620"/>
          <p:cNvSpPr/>
          <p:nvPr/>
        </p:nvSpPr>
        <p:spPr>
          <a:xfrm>
            <a:off x="0" y="293914"/>
            <a:ext cx="12192000" cy="456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d449eff84f_1_620"/>
          <p:cNvSpPr txBox="1"/>
          <p:nvPr/>
        </p:nvSpPr>
        <p:spPr>
          <a:xfrm>
            <a:off x="-4026" y="5863949"/>
            <a:ext cx="233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LUCIANO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g3d449eff84f_1_620" title="imag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705" y="2380000"/>
            <a:ext cx="4682225" cy="27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d449eff84f_1_620"/>
          <p:cNvSpPr txBox="1"/>
          <p:nvPr/>
        </p:nvSpPr>
        <p:spPr>
          <a:xfrm>
            <a:off x="5972423" y="4168375"/>
            <a:ext cx="59181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Mecânicas de jogo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Narrativa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xperiência do usuário (UX)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d449eff84f_1_620"/>
          <p:cNvSpPr txBox="1"/>
          <p:nvPr/>
        </p:nvSpPr>
        <p:spPr>
          <a:xfrm>
            <a:off x="5890050" y="1544600"/>
            <a:ext cx="500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Game Development</a:t>
            </a:r>
            <a:r>
              <a:rPr b="1" lang="en-US" sz="2000">
                <a:solidFill>
                  <a:schemeClr val="dk1"/>
                </a:solidFill>
              </a:rPr>
              <a:t>: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79" name="Google Shape;179;g3d449eff84f_1_620"/>
          <p:cNvSpPr txBox="1"/>
          <p:nvPr/>
        </p:nvSpPr>
        <p:spPr>
          <a:xfrm>
            <a:off x="5890050" y="2141850"/>
            <a:ext cx="45309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Motores de jogo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Física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nteligência artificial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d449eff84f_1_620"/>
          <p:cNvSpPr txBox="1"/>
          <p:nvPr/>
        </p:nvSpPr>
        <p:spPr>
          <a:xfrm>
            <a:off x="5890050" y="3490675"/>
            <a:ext cx="32421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Game Design</a:t>
            </a:r>
            <a:r>
              <a:rPr b="1" lang="en-US" sz="2000">
                <a:solidFill>
                  <a:schemeClr val="dk1"/>
                </a:solidFill>
              </a:rPr>
              <a:t>: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4426b4fcc_0_18"/>
          <p:cNvSpPr txBox="1"/>
          <p:nvPr/>
        </p:nvSpPr>
        <p:spPr>
          <a:xfrm>
            <a:off x="0" y="293914"/>
            <a:ext cx="12192000" cy="708000"/>
          </a:xfrm>
          <a:prstGeom prst="rect">
            <a:avLst/>
          </a:prstGeom>
          <a:solidFill>
            <a:schemeClr val="accent2"/>
          </a:solidFill>
          <a:ln cap="flat" cmpd="sng" w="15875">
            <a:solidFill>
              <a:srgbClr val="712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O'QUE</a:t>
            </a:r>
            <a:r>
              <a:rPr b="1" i="0" lang="en-US" sz="4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É COMPUTAÇÃO PARA </a:t>
            </a:r>
            <a:r>
              <a:rPr b="1" lang="en-US" sz="4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MIM</a:t>
            </a:r>
            <a:endParaRPr b="1" i="0" sz="4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86" name="Google Shape;186;g3d4426b4fcc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1543" y="5680562"/>
            <a:ext cx="1480457" cy="7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d4426b4fcc_0_18"/>
          <p:cNvSpPr/>
          <p:nvPr/>
        </p:nvSpPr>
        <p:spPr>
          <a:xfrm>
            <a:off x="0" y="1001800"/>
            <a:ext cx="12192000" cy="456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d4426b4fcc_0_18"/>
          <p:cNvSpPr/>
          <p:nvPr/>
        </p:nvSpPr>
        <p:spPr>
          <a:xfrm>
            <a:off x="0" y="293914"/>
            <a:ext cx="12192000" cy="456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d4426b4fcc_0_18"/>
          <p:cNvSpPr txBox="1"/>
          <p:nvPr/>
        </p:nvSpPr>
        <p:spPr>
          <a:xfrm>
            <a:off x="751700" y="1572951"/>
            <a:ext cx="5620200" cy="13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Computação como a solução de problemas:</a:t>
            </a:r>
            <a:br>
              <a:rPr b="1" lang="en-US" sz="2400">
                <a:solidFill>
                  <a:schemeClr val="dk1"/>
                </a:solidFill>
              </a:rPr>
            </a:br>
            <a:endParaRPr b="1" sz="2400">
              <a:solidFill>
                <a:schemeClr val="dk1"/>
              </a:solidFill>
            </a:endParaRPr>
          </a:p>
        </p:txBody>
      </p:sp>
      <p:sp>
        <p:nvSpPr>
          <p:cNvPr id="190" name="Google Shape;190;g3d4426b4fcc_0_18"/>
          <p:cNvSpPr txBox="1"/>
          <p:nvPr/>
        </p:nvSpPr>
        <p:spPr>
          <a:xfrm>
            <a:off x="-4026" y="5863949"/>
            <a:ext cx="233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LENNON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g3d4426b4fcc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8935" y="1691769"/>
            <a:ext cx="3390490" cy="259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d4426b4fcc_0_18"/>
          <p:cNvSpPr txBox="1"/>
          <p:nvPr/>
        </p:nvSpPr>
        <p:spPr>
          <a:xfrm>
            <a:off x="1054400" y="2564050"/>
            <a:ext cx="62154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AutoNum type="arabicPeriod"/>
            </a:pPr>
            <a:r>
              <a:rPr b="1" lang="en-US" sz="1600">
                <a:solidFill>
                  <a:srgbClr val="3F3F3F"/>
                </a:solidFill>
              </a:rPr>
              <a:t>Origem da computação:</a:t>
            </a:r>
            <a:r>
              <a:rPr lang="en-US" sz="1600">
                <a:solidFill>
                  <a:srgbClr val="3F3F3F"/>
                </a:solidFill>
              </a:rPr>
              <a:t> Surgiu com máquinas criadas para resolver cálculos longos e complexos.</a:t>
            </a:r>
            <a:endParaRPr sz="1600">
              <a:solidFill>
                <a:srgbClr val="3F3F3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AutoNum type="arabicPeriod"/>
            </a:pPr>
            <a:r>
              <a:rPr b="1" lang="en-US" sz="1600">
                <a:solidFill>
                  <a:srgbClr val="3F3F3F"/>
                </a:solidFill>
              </a:rPr>
              <a:t>Evolução tecnológica:</a:t>
            </a:r>
            <a:r>
              <a:rPr lang="en-US" sz="1600">
                <a:solidFill>
                  <a:srgbClr val="3F3F3F"/>
                </a:solidFill>
              </a:rPr>
              <a:t> A criação dos transistores trouxe melhorias em tamanho, velocidade e confiabilidade.</a:t>
            </a:r>
            <a:endParaRPr sz="1600">
              <a:solidFill>
                <a:srgbClr val="3F3F3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AutoNum type="arabicPeriod"/>
            </a:pPr>
            <a:r>
              <a:rPr b="1" lang="en-US" sz="1600">
                <a:solidFill>
                  <a:srgbClr val="3F3F3F"/>
                </a:solidFill>
              </a:rPr>
              <a:t>Linguagens de programação:</a:t>
            </a:r>
            <a:r>
              <a:rPr lang="en-US" sz="1600">
                <a:solidFill>
                  <a:srgbClr val="3F3F3F"/>
                </a:solidFill>
              </a:rPr>
              <a:t> Facilitaram o uso das máquinas, permitindo que humanos programassem de forma mais simples e eficiente.</a:t>
            </a:r>
            <a:endParaRPr sz="1600">
              <a:solidFill>
                <a:srgbClr val="3F3F3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AutoNum type="arabicPeriod"/>
            </a:pPr>
            <a:r>
              <a:rPr b="1" lang="en-US" sz="1600">
                <a:solidFill>
                  <a:srgbClr val="3F3F3F"/>
                </a:solidFill>
              </a:rPr>
              <a:t>Especialização das máquinas:</a:t>
            </a:r>
            <a:r>
              <a:rPr lang="en-US" sz="1600">
                <a:solidFill>
                  <a:srgbClr val="3F3F3F"/>
                </a:solidFill>
              </a:rPr>
              <a:t> Com o tempo, surgiram computadores desenvolvidos para funções específicas</a:t>
            </a:r>
            <a:endParaRPr sz="16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4426b4fcc_0_27"/>
          <p:cNvSpPr txBox="1"/>
          <p:nvPr/>
        </p:nvSpPr>
        <p:spPr>
          <a:xfrm>
            <a:off x="0" y="293914"/>
            <a:ext cx="12192000" cy="708000"/>
          </a:xfrm>
          <a:prstGeom prst="rect">
            <a:avLst/>
          </a:prstGeom>
          <a:solidFill>
            <a:schemeClr val="accent2"/>
          </a:solidFill>
          <a:ln cap="flat" cmpd="sng" w="15875">
            <a:solidFill>
              <a:srgbClr val="712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ÁREA DE INTERESSE</a:t>
            </a:r>
            <a:endParaRPr b="1" sz="40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98" name="Google Shape;198;g3d4426b4fcc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1543" y="5680562"/>
            <a:ext cx="1480457" cy="7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d4426b4fcc_0_27"/>
          <p:cNvSpPr/>
          <p:nvPr/>
        </p:nvSpPr>
        <p:spPr>
          <a:xfrm>
            <a:off x="0" y="1001800"/>
            <a:ext cx="12192000" cy="456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d4426b4fcc_0_27"/>
          <p:cNvSpPr/>
          <p:nvPr/>
        </p:nvSpPr>
        <p:spPr>
          <a:xfrm>
            <a:off x="0" y="293914"/>
            <a:ext cx="12192000" cy="456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d4426b4fcc_0_27"/>
          <p:cNvSpPr txBox="1"/>
          <p:nvPr/>
        </p:nvSpPr>
        <p:spPr>
          <a:xfrm>
            <a:off x="5972423" y="4168375"/>
            <a:ext cx="59181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Robótica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Atividades relacionadas a hardwares e circuitos 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Infraestrutura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d4426b4fcc_0_27"/>
          <p:cNvSpPr txBox="1"/>
          <p:nvPr/>
        </p:nvSpPr>
        <p:spPr>
          <a:xfrm>
            <a:off x="-4026" y="5863949"/>
            <a:ext cx="233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LENNON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g3d4426b4fcc_0_27"/>
          <p:cNvPicPr preferRelativeResize="0"/>
          <p:nvPr/>
        </p:nvPicPr>
        <p:blipFill rotWithShape="1">
          <a:blip r:embed="rId4">
            <a:alphaModFix/>
          </a:blip>
          <a:srcRect b="0" l="-8381" r="-3214" t="-11595"/>
          <a:stretch/>
        </p:blipFill>
        <p:spPr>
          <a:xfrm>
            <a:off x="2803725" y="1421575"/>
            <a:ext cx="2377451" cy="206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d4426b4fcc_0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-484725" y="2201325"/>
            <a:ext cx="4068199" cy="25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d4426b4fcc_0_27"/>
          <p:cNvSpPr txBox="1"/>
          <p:nvPr/>
        </p:nvSpPr>
        <p:spPr>
          <a:xfrm>
            <a:off x="5890050" y="1544600"/>
            <a:ext cx="500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Backend: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206" name="Google Shape;206;g3d4426b4fcc_0_27"/>
          <p:cNvSpPr txBox="1"/>
          <p:nvPr/>
        </p:nvSpPr>
        <p:spPr>
          <a:xfrm>
            <a:off x="5890050" y="2141850"/>
            <a:ext cx="45309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Criação</a:t>
            </a: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 gerenciamento de banco de dados 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Desenvolvimento de API’s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-"/>
            </a:pPr>
            <a:r>
              <a:rPr b="1"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Programação de hardwares e circuitos</a:t>
            </a:r>
            <a:endParaRPr b="1"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d4426b4fcc_0_27"/>
          <p:cNvSpPr txBox="1"/>
          <p:nvPr/>
        </p:nvSpPr>
        <p:spPr>
          <a:xfrm>
            <a:off x="5890050" y="3490775"/>
            <a:ext cx="27906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Hardware e circuitos: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"/>
          <p:cNvSpPr txBox="1"/>
          <p:nvPr/>
        </p:nvSpPr>
        <p:spPr>
          <a:xfrm>
            <a:off x="0" y="293914"/>
            <a:ext cx="12192000" cy="523220"/>
          </a:xfrm>
          <a:prstGeom prst="rect">
            <a:avLst/>
          </a:prstGeom>
          <a:solidFill>
            <a:schemeClr val="accent2"/>
          </a:solidFill>
          <a:ln cap="flat" cmpd="sng" w="15875">
            <a:solidFill>
              <a:srgbClr val="712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A IMPORTÂNCIA DA COMPUTAÇÃO NO ENSINO E NA </a:t>
            </a:r>
            <a:r>
              <a:rPr b="1" lang="en-US" sz="2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SOCIEDADE</a:t>
            </a:r>
            <a:endParaRPr b="1" sz="28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13" name="Google Shape;2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1543" y="5680562"/>
            <a:ext cx="1480457" cy="7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"/>
          <p:cNvSpPr/>
          <p:nvPr/>
        </p:nvSpPr>
        <p:spPr>
          <a:xfrm>
            <a:off x="0" y="829272"/>
            <a:ext cx="12192000" cy="45719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0" y="293914"/>
            <a:ext cx="12192000" cy="45719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4" title="d8ab231854512481ac6b673e6f519a3c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325" y="1619050"/>
            <a:ext cx="4088750" cy="406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4"/>
          <p:cNvGrpSpPr/>
          <p:nvPr/>
        </p:nvGrpSpPr>
        <p:grpSpPr>
          <a:xfrm>
            <a:off x="5121558" y="1070673"/>
            <a:ext cx="1948878" cy="1573053"/>
            <a:chOff x="1126863" y="2013875"/>
            <a:chExt cx="1944600" cy="1569600"/>
          </a:xfrm>
        </p:grpSpPr>
        <p:sp>
          <p:nvSpPr>
            <p:cNvPr id="218" name="Google Shape;218;p4"/>
            <p:cNvSpPr/>
            <p:nvPr/>
          </p:nvSpPr>
          <p:spPr>
            <a:xfrm>
              <a:off x="1126863" y="2013875"/>
              <a:ext cx="19446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E7E3D7"/>
            </a:solidFill>
            <a:ln>
              <a:noFill/>
            </a:ln>
          </p:spPr>
          <p:txBody>
            <a:bodyPr anchorCtr="0" anchor="ctr" bIns="91650" lIns="91650" spcFirstLastPara="1" rIns="91650" wrap="square" tIns="91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4"/>
            <p:cNvSpPr txBox="1"/>
            <p:nvPr/>
          </p:nvSpPr>
          <p:spPr>
            <a:xfrm>
              <a:off x="1351627" y="2256385"/>
              <a:ext cx="1451700" cy="459900"/>
            </a:xfrm>
            <a:prstGeom prst="rect">
              <a:avLst/>
            </a:prstGeom>
            <a:solidFill>
              <a:srgbClr val="E7E3D7"/>
            </a:solidFill>
            <a:ln>
              <a:noFill/>
            </a:ln>
          </p:spPr>
          <p:txBody>
            <a:bodyPr anchorCtr="0" anchor="t" bIns="91650" lIns="91650" spcFirstLastPara="1" rIns="91650" wrap="square" tIns="91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0" name="Google Shape;220;p4"/>
          <p:cNvGrpSpPr/>
          <p:nvPr/>
        </p:nvGrpSpPr>
        <p:grpSpPr>
          <a:xfrm>
            <a:off x="9418935" y="3231793"/>
            <a:ext cx="2422419" cy="974506"/>
            <a:chOff x="5360225" y="2256387"/>
            <a:chExt cx="2417102" cy="972367"/>
          </a:xfrm>
        </p:grpSpPr>
        <p:sp>
          <p:nvSpPr>
            <p:cNvPr id="221" name="Google Shape;221;p4"/>
            <p:cNvSpPr txBox="1"/>
            <p:nvPr/>
          </p:nvSpPr>
          <p:spPr>
            <a:xfrm>
              <a:off x="5360226" y="2256387"/>
              <a:ext cx="24171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650" lIns="91650" spcFirstLastPara="1" rIns="91650" wrap="square" tIns="91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28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Vestibulum congue tempus</a:t>
              </a:r>
              <a:endParaRPr sz="11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2" name="Google Shape;222;p4"/>
            <p:cNvSpPr txBox="1"/>
            <p:nvPr/>
          </p:nvSpPr>
          <p:spPr>
            <a:xfrm>
              <a:off x="5360225" y="2716353"/>
              <a:ext cx="24171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650" lIns="91650" spcFirstLastPara="1" rIns="91650" wrap="square" tIns="916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579"/>
                </a:spcAft>
                <a:buNone/>
              </a:pPr>
              <a:r>
                <a:rPr lang="en-US" sz="827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Lorem ipsum dolor sit amet, consectetur adipiscing elit, sed do eiusmod tempor. Ipsum dolor sit amet elit, sed do eiusmod tempor.</a:t>
              </a:r>
              <a:endParaRPr sz="11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3" name="Google Shape;223;p4"/>
          <p:cNvGrpSpPr/>
          <p:nvPr/>
        </p:nvGrpSpPr>
        <p:grpSpPr>
          <a:xfrm>
            <a:off x="3931037" y="3601694"/>
            <a:ext cx="347155" cy="347155"/>
            <a:chOff x="3157188" y="909150"/>
            <a:chExt cx="470400" cy="470400"/>
          </a:xfrm>
        </p:grpSpPr>
        <p:sp>
          <p:nvSpPr>
            <p:cNvPr id="224" name="Google Shape;224;p4"/>
            <p:cNvSpPr/>
            <p:nvPr/>
          </p:nvSpPr>
          <p:spPr>
            <a:xfrm>
              <a:off x="3157188" y="909150"/>
              <a:ext cx="470400" cy="47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4"/>
            <p:cNvSpPr/>
            <p:nvPr/>
          </p:nvSpPr>
          <p:spPr>
            <a:xfrm>
              <a:off x="3243138" y="995100"/>
              <a:ext cx="298500" cy="298500"/>
            </a:xfrm>
            <a:prstGeom prst="mathPlus">
              <a:avLst>
                <a:gd fmla="val 9900" name="adj1"/>
              </a:avLst>
            </a:prstGeom>
            <a:solidFill>
              <a:srgbClr val="307AF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4"/>
          <p:cNvSpPr/>
          <p:nvPr/>
        </p:nvSpPr>
        <p:spPr>
          <a:xfrm>
            <a:off x="7070433" y="2642398"/>
            <a:ext cx="1948800" cy="1573200"/>
          </a:xfrm>
          <a:prstGeom prst="round2DiagRect">
            <a:avLst>
              <a:gd fmla="val 0" name="adj1"/>
              <a:gd fmla="val 17764" name="adj2"/>
            </a:avLst>
          </a:prstGeom>
          <a:solidFill>
            <a:srgbClr val="E7E3D7"/>
          </a:solidFill>
          <a:ln>
            <a:noFill/>
          </a:ln>
        </p:spPr>
        <p:txBody>
          <a:bodyPr anchorCtr="0" anchor="ctr" bIns="91650" lIns="91650" spcFirstLastPara="1" rIns="91650" wrap="square" tIns="91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"/>
          <p:cNvSpPr/>
          <p:nvPr/>
        </p:nvSpPr>
        <p:spPr>
          <a:xfrm>
            <a:off x="9019220" y="4206298"/>
            <a:ext cx="1948800" cy="1573200"/>
          </a:xfrm>
          <a:prstGeom prst="round2DiagRect">
            <a:avLst>
              <a:gd fmla="val 0" name="adj1"/>
              <a:gd fmla="val 17764" name="adj2"/>
            </a:avLst>
          </a:prstGeom>
          <a:solidFill>
            <a:srgbClr val="E7E3D7"/>
          </a:solidFill>
          <a:ln>
            <a:noFill/>
          </a:ln>
        </p:spPr>
        <p:txBody>
          <a:bodyPr anchorCtr="0" anchor="ctr" bIns="91650" lIns="91650" spcFirstLastPara="1" rIns="91650" wrap="square" tIns="91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"/>
          <p:cNvSpPr txBox="1"/>
          <p:nvPr/>
        </p:nvSpPr>
        <p:spPr>
          <a:xfrm>
            <a:off x="7076743" y="2986750"/>
            <a:ext cx="2422500" cy="17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2. Aprendizado dinâmico</a:t>
            </a:r>
            <a:endParaRPr b="1" sz="2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 txBox="1"/>
          <p:nvPr/>
        </p:nvSpPr>
        <p:spPr>
          <a:xfrm>
            <a:off x="8983413" y="4551625"/>
            <a:ext cx="2422500" cy="17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3. Relevância </a:t>
            </a:r>
            <a:r>
              <a:rPr b="1" lang="en-US" sz="2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contemporânea</a:t>
            </a:r>
            <a:endParaRPr b="1" sz="2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 txBox="1"/>
          <p:nvPr/>
        </p:nvSpPr>
        <p:spPr>
          <a:xfrm>
            <a:off x="5390144" y="1400472"/>
            <a:ext cx="2422500" cy="17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1. Acesso Ampliado</a:t>
            </a:r>
            <a:endParaRPr b="1" sz="2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943" y="538843"/>
            <a:ext cx="4180113" cy="187778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"/>
          <p:cNvSpPr txBox="1"/>
          <p:nvPr/>
        </p:nvSpPr>
        <p:spPr>
          <a:xfrm>
            <a:off x="3777342" y="3429000"/>
            <a:ext cx="463731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rPr>
              <a:t>OBRIGADO!!!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2019-08-21T14:04:01Z</dcterms:created>
  <dc:creator>João Paulo Viana</dc:creator>
</cp:coreProperties>
</file>